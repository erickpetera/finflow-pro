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Composição</c:v>
                </c:pt>
              </c:strCache>
            </c:strRef>
          </c:tx>
          <c:spPr>
            <a:solidFill>
              <a:srgbClr val="83C900"/>
            </a:solidFill>
            <a:effectLst/>
          </c:spPr>
          <c:invertIfNegative val="0"/>
          <c:dLbls>
            <c:numFmt formatCode="R$ #,##0;[Red]-R$ 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3C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C6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77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7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Receita</c:v>
                  </c:pt>
                  <c:pt idx="1">
                    <c:v>Custos</c:v>
                  </c:pt>
                  <c:pt idx="2">
                    <c:v>Despesas</c:v>
                  </c:pt>
                  <c:pt idx="3">
                    <c:v>Resultado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16776.2</c:v>
                </c:pt>
                <c:pt idx="1">
                  <c:v>-18209.32</c:v>
                </c:pt>
                <c:pt idx="2">
                  <c:v>-6799.22</c:v>
                </c:pt>
                <c:pt idx="3">
                  <c:v>-8334.35</c:v>
                </c:pt>
              </c:numCache>
            </c:numRef>
          </c:val>
        </c:ser>
        <c:dLbls>
          <c:numFmt formatCode="R$ #,##0;[Red]-R$ 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72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por categoria</c:v>
                </c:pt>
              </c:strCache>
            </c:strRef>
          </c:tx>
          <c:spPr>
            <a:solidFill>
              <a:srgbClr val="83C900"/>
            </a:solidFill>
            <a:effectLst/>
          </c:spPr>
          <c:invertIfNegative val="0"/>
          <c:dLbls>
            <c:numFmt formatCode="R$ 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3C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C6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B5D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Serviços</c:v>
                  </c:pt>
                  <c:pt idx="1">
                    <c:v>Produtos</c:v>
                  </c:pt>
                  <c:pt idx="2">
                    <c:v>Assinaturas</c:v>
                  </c:pt>
                  <c:pt idx="3">
                    <c:v>Outras receitas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9800</c:v>
                </c:pt>
                <c:pt idx="1">
                  <c:v>4200</c:v>
                </c:pt>
                <c:pt idx="2">
                  <c:v>1800</c:v>
                </c:pt>
                <c:pt idx="3">
                  <c:v>976.2</c:v>
                </c:pt>
              </c:numCache>
            </c:numRef>
          </c:val>
        </c:ser>
        <c:dLbls>
          <c:numFmt formatCode="R$ 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72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78"/>
              </a:solidFill>
              <a:effectLst/>
            </c:spPr>
          </c:dPt>
          <c:dPt>
            <c:idx val="1"/>
            <c:bubble3D val="0"/>
            <c:spPr>
              <a:solidFill>
                <a:srgbClr val="83C900"/>
              </a:solidFill>
              <a:effectLst/>
            </c:spPr>
          </c:dPt>
          <c:dPt>
            <c:idx val="2"/>
            <c:bubble3D val="0"/>
            <c:spPr>
              <a:solidFill>
                <a:srgbClr val="1CB5D9"/>
              </a:solidFill>
              <a:effectLst/>
            </c:spPr>
          </c:dPt>
          <c:dPt>
            <c:idx val="3"/>
            <c:bubble3D val="0"/>
            <c:spPr>
              <a:solidFill>
                <a:srgbClr val="F7C6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Serviços</c:v>
                </c:pt>
                <c:pt idx="1">
                  <c:v>Produtos</c:v>
                </c:pt>
                <c:pt idx="2">
                  <c:v>Assinaturas</c:v>
                </c:pt>
                <c:pt idx="3">
                  <c:v>Outras receitas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9800</c:v>
                </c:pt>
                <c:pt idx="1">
                  <c:v>4200</c:v>
                </c:pt>
                <c:pt idx="2">
                  <c:v>1800</c:v>
                </c:pt>
                <c:pt idx="3">
                  <c:v>976.2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Custos e despesas</c:v>
                </c:pt>
              </c:strCache>
            </c:strRef>
          </c:tx>
          <c:spPr>
            <a:solidFill>
              <a:srgbClr val="EF4770"/>
            </a:solidFill>
            <a:effectLst/>
          </c:spPr>
          <c:invertIfNegative val="0"/>
          <c:dLbls>
            <c:numFmt formatCode="R$ 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Pessoal</c:v>
                  </c:pt>
                  <c:pt idx="1">
                    <c:v>Comissões</c:v>
                  </c:pt>
                  <c:pt idx="2">
                    <c:v>Custos diretos</c:v>
                  </c:pt>
                  <c:pt idx="3">
                    <c:v>Aluguel</c:v>
                  </c:pt>
                  <c:pt idx="4">
                    <c:v>Marketing</c:v>
                  </c:pt>
                  <c:pt idx="5">
                    <c:v>Impostos</c:v>
                  </c:pt>
                  <c:pt idx="6">
                    <c:v>Outros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7200</c:v>
                </c:pt>
                <c:pt idx="1">
                  <c:v>4800</c:v>
                </c:pt>
                <c:pt idx="2">
                  <c:v>3900</c:v>
                </c:pt>
                <c:pt idx="3">
                  <c:v>3200</c:v>
                </c:pt>
                <c:pt idx="4">
                  <c:v>2100</c:v>
                </c:pt>
                <c:pt idx="5">
                  <c:v>1808.54</c:v>
                </c:pt>
                <c:pt idx="6">
                  <c:v>2000</c:v>
                </c:pt>
              </c:numCache>
            </c:numRef>
          </c:val>
        </c:ser>
        <c:dLbls>
          <c:numFmt formatCode="R$ 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72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rgbClr val="00A878"/>
            </a:solidFill>
            <a:effectLst/>
          </c:spPr>
          <c:invertIfNegative val="0"/>
          <c:dLbls>
            <c:numFmt formatCode="R$ #,##0;[Red]-R$ 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B5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C6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Resultado bruto</c:v>
                  </c:pt>
                  <c:pt idx="1">
                    <c:v>Resultado operacional</c:v>
                  </c:pt>
                  <c:pt idx="2">
                    <c:v>Resultado líquido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-1433.12</c:v>
                </c:pt>
                <c:pt idx="1">
                  <c:v>-8232.34</c:v>
                </c:pt>
                <c:pt idx="2">
                  <c:v>-8334.35</c:v>
                </c:pt>
              </c:numCache>
            </c:numRef>
          </c:val>
        </c:ser>
        <c:dLbls>
          <c:numFmt formatCode="R$ #,##0;[Red]-R$ 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72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Margem</c:v>
                </c:pt>
              </c:strCache>
            </c:strRef>
          </c:tx>
          <c:spPr>
            <a:solidFill>
              <a:srgbClr val="EF4770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7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C6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Margem atual</c:v>
                  </c:pt>
                  <c:pt idx="1">
                    <c:v>Meta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-49.1</c:v>
                </c:pt>
                <c:pt idx="1">
                  <c:v>15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72A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positivo</c:v>
                </c:pt>
              </c:strCache>
            </c:strRef>
          </c:tx>
          <c:spPr>
            <a:solidFill>
              <a:srgbClr val="00A878"/>
            </a:solidFill>
            <a:effectLst/>
          </c:spPr>
          <c:invertIfNegative val="0"/>
          <c:dLbls>
            <c:numFmt formatCode="R$ 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Serviços</c:v>
                  </c:pt>
                  <c:pt idx="1">
                    <c:v>Produtos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9800</c:v>
                </c:pt>
                <c:pt idx="1">
                  <c:v>4200</c:v>
                </c:pt>
              </c:numCache>
            </c:numRef>
          </c:val>
        </c:ser>
        <c:dLbls>
          <c:numFmt formatCode="R$ 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72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negativo</c:v>
                </c:pt>
              </c:strCache>
            </c:strRef>
          </c:tx>
          <c:spPr>
            <a:solidFill>
              <a:srgbClr val="EF4770"/>
            </a:solidFill>
            <a:effectLst/>
          </c:spPr>
          <c:invertIfNegative val="0"/>
          <c:dLbls>
            <c:numFmt formatCode="R$ 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Pessoal</c:v>
                  </c:pt>
                  <c:pt idx="1">
                    <c:v>Comissões</c:v>
                  </c:pt>
                  <c:pt idx="2">
                    <c:v>Custos diretos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7200</c:v>
                </c:pt>
                <c:pt idx="1">
                  <c:v>4800</c:v>
                </c:pt>
                <c:pt idx="2">
                  <c:v>3900</c:v>
                </c:pt>
              </c:numCache>
            </c:numRef>
          </c:val>
        </c:ser>
        <c:dLbls>
          <c:numFmt formatCode="R$ 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72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109728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109728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51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FINANCEIRO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840480" y="2578608"/>
            <a:ext cx="4526280" cy="0"/>
          </a:xfrm>
          <a:prstGeom prst="line">
            <a:avLst/>
          </a:prstGeom>
          <a:noFill/>
          <a:ln w="25400">
            <a:solidFill>
              <a:srgbClr val="1CB5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926080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971800" y="374904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• ANÁLISE • DECISÃO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4892040"/>
            <a:ext cx="4709160" cy="658368"/>
          </a:xfrm>
          <a:prstGeom prst="roundRect">
            <a:avLst/>
          </a:prstGeom>
          <a:solidFill>
            <a:srgbClr val="0A5AA6"/>
          </a:solidFill>
          <a:ln w="12700">
            <a:solidFill>
              <a:srgbClr val="1CB5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510235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CLAREZA QUE GERA RESULTADO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9144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91440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108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FINANCEIRO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374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850392"/>
            <a:ext cx="11018520" cy="0"/>
          </a:xfrm>
          <a:prstGeom prst="line">
            <a:avLst/>
          </a:prstGeom>
          <a:noFill/>
          <a:ln w="12700">
            <a:solidFill>
              <a:srgbClr val="37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56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  •  FinFlow 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27080" y="6528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078992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078992"/>
            <a:ext cx="64008" cy="960120"/>
          </a:xfrm>
          <a:prstGeom prst="rect">
            <a:avLst/>
          </a:prstGeom>
          <a:solidFill>
            <a:srgbClr val="83C900"/>
          </a:solidFill>
          <a:ln w="12700">
            <a:solidFill>
              <a:srgbClr val="83C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243584"/>
            <a:ext cx="2350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OPERACIONAL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49047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R$ 16.776,20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64992" y="1078992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078992"/>
            <a:ext cx="64008" cy="96012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243584"/>
            <a:ext cx="2350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OPERACIONAIS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47872" y="149047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-R$ 18.209,32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63056" y="1078992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078992"/>
            <a:ext cx="64008" cy="96012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243584"/>
            <a:ext cx="2350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OPERACIONAIS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45936" y="149047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-R$ 6.799,22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961120" y="1078992"/>
            <a:ext cx="2624328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1078992"/>
            <a:ext cx="64008" cy="96012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1243584"/>
            <a:ext cx="2304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LÍQUIDO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0" y="14904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-R$ 8.334,35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66928" y="2304288"/>
            <a:ext cx="7360920" cy="3840480"/>
          </a:xfrm>
          <a:prstGeom prst="roundRect">
            <a:avLst>
              <a:gd name="adj" fmla="val 1429"/>
            </a:avLst>
          </a:prstGeom>
          <a:solidFill>
            <a:srgbClr val="084A91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2578608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DO MÊS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1248" y="2907792"/>
            <a:ext cx="681228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graphicFrame>
        <p:nvGraphicFramePr>
          <p:cNvPr id="30" name="Chart 0" descr=""/>
          <p:cNvGraphicFramePr/>
          <p:nvPr/>
        </p:nvGraphicFramePr>
        <p:xfrm>
          <a:off x="804672" y="3017520"/>
          <a:ext cx="69037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8156448" y="2304288"/>
            <a:ext cx="3429000" cy="3840480"/>
          </a:xfrm>
          <a:prstGeom prst="roundRect">
            <a:avLst>
              <a:gd name="adj" fmla="val 1600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30768" y="25786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EXECUTIVA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430768" y="2907792"/>
            <a:ext cx="288036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30768" y="3063240"/>
            <a:ext cx="288036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 período encerrou com resultado operacional negativo, pressionado por custos e despesas.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receita precisa crescer junto com uma redução objetiva das saídas operacionais.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margem ficou abaixo da meta e exige plano de ação imediato.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430768" y="5468112"/>
            <a:ext cx="2880360" cy="438912"/>
          </a:xfrm>
          <a:prstGeom prst="round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49640" y="5614416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-49,1%  •  Meta 15,0%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9144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91440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108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OPERACIONAL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374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850392"/>
            <a:ext cx="11018520" cy="0"/>
          </a:xfrm>
          <a:prstGeom prst="line">
            <a:avLst/>
          </a:prstGeom>
          <a:noFill/>
          <a:ln w="12700">
            <a:solidFill>
              <a:srgbClr val="37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56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  •  FinFlow 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27080" y="6528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078992"/>
            <a:ext cx="6903720" cy="5349240"/>
          </a:xfrm>
          <a:prstGeom prst="roundRect">
            <a:avLst>
              <a:gd name="adj" fmla="val 1026"/>
            </a:avLst>
          </a:prstGeom>
          <a:solidFill>
            <a:srgbClr val="084A91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8988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MENSAL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1719072"/>
            <a:ext cx="635508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822960" y="1874520"/>
          <a:ext cx="63550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699248" y="1078992"/>
            <a:ext cx="3886200" cy="3291840"/>
          </a:xfrm>
          <a:prstGeom prst="roundRect">
            <a:avLst>
              <a:gd name="adj" fmla="val 1667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73568" y="13898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POR CATEGORIA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973568" y="1719072"/>
            <a:ext cx="333756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graphicFrame>
        <p:nvGraphicFramePr>
          <p:cNvPr id="18" name="Chart 1" descr=""/>
          <p:cNvGraphicFramePr/>
          <p:nvPr/>
        </p:nvGraphicFramePr>
        <p:xfrm>
          <a:off x="7909560" y="1783080"/>
          <a:ext cx="34290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7699248" y="4590288"/>
            <a:ext cx="3886200" cy="1837944"/>
          </a:xfrm>
          <a:prstGeom prst="roundRect">
            <a:avLst>
              <a:gd name="adj" fmla="val 2985"/>
            </a:avLst>
          </a:prstGeom>
          <a:solidFill>
            <a:srgbClr val="07529A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01000" y="486460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 DO PERÍODO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001000" y="52303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registrou a maior receita do período: R$ 16.776,20.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9144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91440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108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 DESPESAS OPERACIONAIS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374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850392"/>
            <a:ext cx="11018520" cy="0"/>
          </a:xfrm>
          <a:prstGeom prst="line">
            <a:avLst/>
          </a:prstGeom>
          <a:noFill/>
          <a:ln w="12700">
            <a:solidFill>
              <a:srgbClr val="37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56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  •  FinFlow 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27080" y="6528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078992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078992"/>
            <a:ext cx="64008" cy="96012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243584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DEDUÇÕES + CUSTOS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490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-R$ 18.209,32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1828800"/>
            <a:ext cx="3017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108,5% da receita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69080" y="1078992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1078992"/>
            <a:ext cx="64008" cy="96012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243584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OPERACIONAIS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51960" y="1490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-R$ 6.799,22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51960" y="1828800"/>
            <a:ext cx="3017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40,5% da receita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71232" y="1078992"/>
            <a:ext cx="4014216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71232" y="1078992"/>
            <a:ext cx="64008" cy="960120"/>
          </a:xfrm>
          <a:prstGeom prst="rect">
            <a:avLst/>
          </a:prstGeom>
          <a:solidFill>
            <a:srgbClr val="1CB5D9"/>
          </a:solidFill>
          <a:ln w="12700">
            <a:solidFill>
              <a:srgbClr val="1CB5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1243584"/>
            <a:ext cx="3694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OPERACIONAIS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54112" y="149047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-R$ 25.008,54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66928" y="2304288"/>
            <a:ext cx="7452360" cy="3977640"/>
          </a:xfrm>
          <a:prstGeom prst="roundRect">
            <a:avLst>
              <a:gd name="adj" fmla="val 1379"/>
            </a:avLst>
          </a:prstGeom>
          <a:solidFill>
            <a:srgbClr val="084A91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2596896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CATEGORIAS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1248" y="2926080"/>
            <a:ext cx="690372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graphicFrame>
        <p:nvGraphicFramePr>
          <p:cNvPr id="28" name="Chart 0" descr=""/>
          <p:cNvGraphicFramePr/>
          <p:nvPr/>
        </p:nvGraphicFramePr>
        <p:xfrm>
          <a:off x="868680" y="3017520"/>
          <a:ext cx="68122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8247888" y="2304288"/>
            <a:ext cx="3337560" cy="3977640"/>
          </a:xfrm>
          <a:prstGeom prst="roundRect">
            <a:avLst>
              <a:gd name="adj" fmla="val 164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22208" y="25968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522208" y="2926080"/>
            <a:ext cx="278892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22208" y="3090672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Pessoal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R$ 7.200,00 • 28,8%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Comissões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R$ 4.800,00 • 19,2%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Custos diretos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R$ 3.900,00 • 15,6%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Aluguel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R$ 3.200,00 • 12,8%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Marketing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R$ 2.100,00 • 8,4%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9144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91440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108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DE RESULTADO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374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850392"/>
            <a:ext cx="11018520" cy="0"/>
          </a:xfrm>
          <a:prstGeom prst="line">
            <a:avLst/>
          </a:prstGeom>
          <a:noFill/>
          <a:ln w="12700">
            <a:solidFill>
              <a:srgbClr val="37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56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  •  FinFlow 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27080" y="6528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078992"/>
            <a:ext cx="11018520" cy="4069080"/>
          </a:xfrm>
          <a:prstGeom prst="roundRect">
            <a:avLst>
              <a:gd name="adj" fmla="val 1348"/>
            </a:avLst>
          </a:prstGeom>
          <a:solidFill>
            <a:srgbClr val="084A91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71600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BRUTO • OPERACIONAL • LÍQUIDO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1700784"/>
            <a:ext cx="1046988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841248" y="1810512"/>
          <a:ext cx="104698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5376672"/>
            <a:ext cx="3493008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5376672"/>
            <a:ext cx="64008" cy="96012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5541264"/>
            <a:ext cx="31729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BRUTO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9808" y="5788152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-R$ 1.433,12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343400" y="5376672"/>
            <a:ext cx="3493008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43400" y="5376672"/>
            <a:ext cx="64008" cy="96012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5541264"/>
            <a:ext cx="31729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OPERACIONAL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26280" y="5788152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-R$ 8.232,34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119872" y="5376672"/>
            <a:ext cx="3465576" cy="960120"/>
          </a:xfrm>
          <a:prstGeom prst="roundRect">
            <a:avLst>
              <a:gd name="adj" fmla="val 5714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9872" y="5376672"/>
            <a:ext cx="64008" cy="96012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02752" y="5541264"/>
            <a:ext cx="3145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LÍQUIDO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302752" y="578815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-R$ 8.334,35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9144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91440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108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E EFICIÊNCIA OPERACIONAL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374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850392"/>
            <a:ext cx="11018520" cy="0"/>
          </a:xfrm>
          <a:prstGeom prst="line">
            <a:avLst/>
          </a:prstGeom>
          <a:noFill/>
          <a:ln w="12700">
            <a:solidFill>
              <a:srgbClr val="37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56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  •  FinFlow 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27080" y="6528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078992"/>
            <a:ext cx="6903720" cy="5257800"/>
          </a:xfrm>
          <a:prstGeom prst="roundRect">
            <a:avLst>
              <a:gd name="adj" fmla="val 1043"/>
            </a:avLst>
          </a:prstGeom>
          <a:solidFill>
            <a:srgbClr val="084A91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8988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OPERACIONAL X META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1719072"/>
            <a:ext cx="635508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868680" y="187452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699248" y="1078992"/>
            <a:ext cx="3886200" cy="5257800"/>
          </a:xfrm>
          <a:prstGeom prst="roundRect">
            <a:avLst>
              <a:gd name="adj" fmla="val 1412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73568" y="13898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RESUMIDO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973568" y="1719072"/>
            <a:ext cx="333756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36992" y="1920240"/>
            <a:ext cx="3429000" cy="429768"/>
          </a:xfrm>
          <a:prstGeom prst="rect">
            <a:avLst/>
          </a:prstGeom>
          <a:solidFill>
            <a:srgbClr val="07529A"/>
          </a:solidFill>
          <a:ln w="12700">
            <a:solidFill>
              <a:srgbClr val="0752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65008" y="199339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operacional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040112" y="199339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R$ 16.776,20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05872" y="220370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100,0%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8065008" y="2596896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Deduções e custos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040112" y="2596896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-R$ 18.209,32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405872" y="280720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-108,5%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936992" y="3127248"/>
            <a:ext cx="3429000" cy="429768"/>
          </a:xfrm>
          <a:prstGeom prst="rect">
            <a:avLst/>
          </a:prstGeom>
          <a:solidFill>
            <a:srgbClr val="07529A"/>
          </a:solidFill>
          <a:ln w="12700">
            <a:solidFill>
              <a:srgbClr val="0752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65008" y="320040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Resultado bruto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040112" y="3200400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-R$ 1.433,12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405872" y="3410712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-8,5%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065008" y="3803904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Despesas operacionais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0040112" y="380390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-R$ 6.799,22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405872" y="401421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-40,5%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936992" y="4334256"/>
            <a:ext cx="3429000" cy="429768"/>
          </a:xfrm>
          <a:prstGeom prst="rect">
            <a:avLst/>
          </a:prstGeom>
          <a:solidFill>
            <a:srgbClr val="07529A"/>
          </a:solidFill>
          <a:ln w="12700">
            <a:solidFill>
              <a:srgbClr val="07529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65008" y="440740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Resultado operacional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040112" y="440740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-R$ 8.232,34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0405872" y="461772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-49,1%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7936992" y="4937760"/>
            <a:ext cx="3429000" cy="429768"/>
          </a:xfrm>
          <a:prstGeom prst="rect">
            <a:avLst/>
          </a:prstGeom>
          <a:solidFill>
            <a:srgbClr val="07529A"/>
          </a:solidFill>
          <a:ln w="12700">
            <a:solidFill>
              <a:srgbClr val="07529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65008" y="501091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Resultado líquido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10040112" y="501091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-R$ 8.334,35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0405872" y="522122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-49,7%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9144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91440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108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FINANCEIRA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374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850392"/>
            <a:ext cx="11018520" cy="0"/>
          </a:xfrm>
          <a:prstGeom prst="line">
            <a:avLst/>
          </a:prstGeom>
          <a:noFill/>
          <a:ln w="12700">
            <a:solidFill>
              <a:srgbClr val="37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56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  •  FinFlow 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27080" y="6528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078992"/>
            <a:ext cx="6995160" cy="5349240"/>
          </a:xfrm>
          <a:prstGeom prst="roundRect">
            <a:avLst>
              <a:gd name="adj" fmla="val 1026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89888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PERÍODO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1719072"/>
            <a:ext cx="644652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1856232"/>
            <a:ext cx="6446520" cy="640080"/>
          </a:xfrm>
          <a:prstGeom prst="roundRect">
            <a:avLst/>
          </a:prstGeom>
          <a:solidFill>
            <a:srgbClr val="084A91"/>
          </a:solidFill>
          <a:ln w="10160">
            <a:solidFill>
              <a:srgbClr val="3772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020824"/>
            <a:ext cx="292608" cy="292608"/>
          </a:xfrm>
          <a:prstGeom prst="ellipse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19568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abaixo da meta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01568" y="19476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margem operacional ficou 64,1 p.p. abaixo do objetivo.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41248" y="2679192"/>
            <a:ext cx="6446520" cy="640080"/>
          </a:xfrm>
          <a:prstGeom prst="roundRect">
            <a:avLst/>
          </a:prstGeom>
          <a:solidFill>
            <a:srgbClr val="07529A"/>
          </a:solidFill>
          <a:ln w="10160">
            <a:solidFill>
              <a:srgbClr val="3772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843784"/>
            <a:ext cx="292608" cy="292608"/>
          </a:xfrm>
          <a:prstGeom prst="ellipse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4752" y="2779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elevados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01568" y="27706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custos superaram a receita operacional do período.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41248" y="3502152"/>
            <a:ext cx="6446520" cy="640080"/>
          </a:xfrm>
          <a:prstGeom prst="roundRect">
            <a:avLst/>
          </a:prstGeom>
          <a:solidFill>
            <a:srgbClr val="084A91"/>
          </a:solidFill>
          <a:ln w="10160">
            <a:solidFill>
              <a:srgbClr val="3772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3666744"/>
            <a:ext cx="292608" cy="292608"/>
          </a:xfrm>
          <a:prstGeom prst="ellipse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4752" y="36027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negativo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01568" y="35935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 líquido fechou em -R$ 8,3 mil.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41248" y="4325112"/>
            <a:ext cx="6446520" cy="640080"/>
          </a:xfrm>
          <a:prstGeom prst="roundRect">
            <a:avLst/>
          </a:prstGeom>
          <a:solidFill>
            <a:srgbClr val="07529A"/>
          </a:solidFill>
          <a:ln w="10160">
            <a:solidFill>
              <a:srgbClr val="3772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4489704"/>
            <a:ext cx="292608" cy="292608"/>
          </a:xfrm>
          <a:prstGeom prst="ellipse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4752" y="44256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01568" y="44165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Poucas categorias representam a maior parte das saídas.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7790688" y="1078992"/>
            <a:ext cx="3794760" cy="5349240"/>
          </a:xfrm>
          <a:prstGeom prst="roundRect">
            <a:avLst>
              <a:gd name="adj" fmla="val 1446"/>
            </a:avLst>
          </a:prstGeom>
          <a:solidFill>
            <a:srgbClr val="084A91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5008" y="13898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EXECUTIVA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65008" y="1719072"/>
            <a:ext cx="324612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65008" y="1901952"/>
            <a:ext cx="324612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 período encerrou com resultado operacional negativo, pressionado por custos e despesas.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receita precisa crescer junto com uma redução objetiva das saídas operacionais.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margem ficou abaixo da meta e exige plano de ação imediato.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65008" y="5230368"/>
            <a:ext cx="3246120" cy="658368"/>
          </a:xfrm>
          <a:prstGeom prst="round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53675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LÍQUIDO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-R$ 8.334,35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9144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91440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108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DO PERÍODO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374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850392"/>
            <a:ext cx="11018520" cy="0"/>
          </a:xfrm>
          <a:prstGeom prst="line">
            <a:avLst/>
          </a:prstGeom>
          <a:noFill/>
          <a:ln w="12700">
            <a:solidFill>
              <a:srgbClr val="37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56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  •  FinFlow 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27080" y="6528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078992"/>
            <a:ext cx="5394960" cy="5349240"/>
          </a:xfrm>
          <a:prstGeom prst="roundRect">
            <a:avLst>
              <a:gd name="adj" fmla="val 1026"/>
            </a:avLst>
          </a:prstGeom>
          <a:solidFill>
            <a:srgbClr val="063B77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898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MELHORARAM O RESULTADO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1719072"/>
            <a:ext cx="484632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841248" y="1874520"/>
          <a:ext cx="4800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190488" y="1078992"/>
            <a:ext cx="5394960" cy="5349240"/>
          </a:xfrm>
          <a:prstGeom prst="roundRect">
            <a:avLst>
              <a:gd name="adj" fmla="val 1026"/>
            </a:avLst>
          </a:prstGeom>
          <a:solidFill>
            <a:srgbClr val="084A91">
              <a:alpha val="97000"/>
            </a:srgbClr>
          </a:solidFill>
          <a:ln w="12700">
            <a:solidFill>
              <a:srgbClr val="3772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4808" y="13898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PRESSIONARAM O RESULTADO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64808" y="1719072"/>
            <a:ext cx="4846320" cy="0"/>
          </a:xfrm>
          <a:prstGeom prst="line">
            <a:avLst/>
          </a:prstGeom>
          <a:noFill/>
          <a:ln w="17780">
            <a:solidFill>
              <a:srgbClr val="F7C600"/>
            </a:solidFill>
            <a:prstDash val="solid"/>
          </a:ln>
        </p:spPr>
      </p:sp>
      <p:graphicFrame>
        <p:nvGraphicFramePr>
          <p:cNvPr id="18" name="Chart 1" descr=""/>
          <p:cNvGraphicFramePr/>
          <p:nvPr/>
        </p:nvGraphicFramePr>
        <p:xfrm>
          <a:off x="6464808" y="1874520"/>
          <a:ext cx="4800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2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EF4770"/>
          </a:solidFill>
          <a:ln w="12700">
            <a:solidFill>
              <a:srgbClr val="EF4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926080" cy="91440"/>
          </a:xfrm>
          <a:prstGeom prst="rect">
            <a:avLst/>
          </a:prstGeom>
          <a:solidFill>
            <a:srgbClr val="F7C600"/>
          </a:solidFill>
          <a:ln w="12700">
            <a:solidFill>
              <a:srgbClr val="F7C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29260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3413455" cy="91440"/>
          </a:xfrm>
          <a:prstGeom prst="rect">
            <a:avLst/>
          </a:prstGeom>
          <a:solidFill>
            <a:srgbClr val="0C74D9"/>
          </a:solidFill>
          <a:ln w="12700">
            <a:solidFill>
              <a:srgbClr val="0C7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108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374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850392"/>
            <a:ext cx="11018520" cy="0"/>
          </a:xfrm>
          <a:prstGeom prst="line">
            <a:avLst/>
          </a:prstGeom>
          <a:noFill/>
          <a:ln w="12700">
            <a:solidFill>
              <a:srgbClr val="37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56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AGAPE ESPACO DE ARTE LTDA  •  FinFlow 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27080" y="6528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PRIORITÁRIOS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64208"/>
          <a:ext cx="10927080" cy="4343400"/>
        </p:xfrm>
        <a:graphic>
          <a:graphicData uri="http://schemas.openxmlformats.org/drawingml/2006/table">
            <a:tbl>
              <a:tblPr/>
              <a:tblGrid>
                <a:gridCol w="5486400"/>
                <a:gridCol w="1965960"/>
                <a:gridCol w="1417320"/>
                <a:gridCol w="2057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A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despesas e contratos recorrentes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Financeiro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15/09/2026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andamento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A9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Redefinir metas comerciais por canal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Comercial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7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A9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FinFlow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Financeiro Agosto de 2026</dc:title>
  <dc:subject>Relatório financeiro - AGAPE ESPACO DE ARTE LTDA</dc:subject>
  <dc:creator>FinFlow Pro</dc:creator>
  <cp:lastModifiedBy>FinFlow Pro</cp:lastModifiedBy>
  <cp:revision>1</cp:revision>
  <dcterms:created xsi:type="dcterms:W3CDTF">2026-10-08T20:07:01Z</dcterms:created>
  <dcterms:modified xsi:type="dcterms:W3CDTF">2026-10-08T20:07:01Z</dcterms:modified>
</cp:coreProperties>
</file>